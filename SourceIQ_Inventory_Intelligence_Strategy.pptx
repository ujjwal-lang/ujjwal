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8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6229"/>
  </p:normalViewPr>
  <p:slideViewPr>
    <p:cSldViewPr snapToGrid="0" snapToObjects="1">
      <p:cViewPr varScale="1">
        <p:scale>
          <a:sx n="63" d="100"/>
          <a:sy n="63" d="100"/>
        </p:scale>
        <p:origin x="7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4110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each unit: the gross contribution it is expected to earn, divided by (capital tied up × days held).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Summed across the portfolio it answers one question: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much profit is every dollar of inventory</a:t>
            </a: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generating per day it is deployed?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It's a tiered "waterfall" — the engine checks the strongest condition first and falls through to the next until one matches. Four variables drive it:</a:t>
            </a:r>
          </a:p>
          <a:p>
            <a:pPr lvl="0" rtl="0"/>
            <a:r>
              <a:rPr lang="en-US" b="1" dirty="0"/>
              <a:t>P(≤target)</a:t>
            </a:r>
            <a:r>
              <a:rPr lang="en-US" dirty="0"/>
              <a:t> — the model's probability the car sells within the dealer's target window (45 days)</a:t>
            </a:r>
          </a:p>
          <a:p>
            <a:pPr lvl="0" rtl="0"/>
            <a:r>
              <a:rPr lang="en-US" b="1" dirty="0"/>
              <a:t>contribution</a:t>
            </a:r>
            <a:r>
              <a:rPr lang="en-US" dirty="0"/>
              <a:t> — expected net contribution at the current bid (after all costs)</a:t>
            </a:r>
          </a:p>
          <a:p>
            <a:pPr lvl="0" rtl="0"/>
            <a:r>
              <a:rPr lang="en-US" b="1" dirty="0"/>
              <a:t>min</a:t>
            </a:r>
            <a:r>
              <a:rPr lang="en-US" dirty="0"/>
              <a:t> — the dealer's minimum contribution floor ($4,000)</a:t>
            </a:r>
          </a:p>
          <a:p>
            <a:pPr lvl="0" rtl="0"/>
            <a:r>
              <a:rPr lang="en-US" b="1" dirty="0"/>
              <a:t>max</a:t>
            </a:r>
            <a:r>
              <a:rPr lang="en-US" dirty="0"/>
              <a:t> / </a:t>
            </a:r>
            <a:r>
              <a:rPr lang="en-US" b="1" dirty="0"/>
              <a:t>bid</a:t>
            </a:r>
            <a:r>
              <a:rPr lang="en-US" dirty="0"/>
              <a:t> — the recommended max buy price vs. the current auction bid</a:t>
            </a:r>
          </a:p>
          <a:p>
            <a:pPr rtl="0"/>
            <a:r>
              <a:rPr lang="en-US" dirty="0"/>
              <a:t>Reading the ladder top to bottom:</a:t>
            </a:r>
          </a:p>
          <a:p>
            <a:pPr rtl="0"/>
            <a:endParaRPr lang="en-US" b="1" dirty="0"/>
          </a:p>
          <a:p>
            <a:pPr rtl="0"/>
            <a:r>
              <a:rPr lang="en-US" b="1" dirty="0"/>
              <a:t>STRONG BUY —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P(≤target) ≥ 0.85 &amp; contribution ≥ 1.2× min</a:t>
            </a:r>
            <a:br>
              <a:rPr lang="en-US" dirty="0"/>
            </a:br>
            <a:r>
              <a:rPr lang="en-US" dirty="0"/>
              <a:t>The vehicle clears both bars </a:t>
            </a:r>
            <a:r>
              <a:rPr lang="en-US" i="1" dirty="0"/>
              <a:t>with room to spare</a:t>
            </a:r>
            <a:r>
              <a:rPr lang="en-US" dirty="0"/>
              <a:t>: a high-confidence fast sale (≥85% chance within target) </a:t>
            </a:r>
            <a:r>
              <a:rPr lang="en-US" b="1" dirty="0"/>
              <a:t>and</a:t>
            </a:r>
            <a:r>
              <a:rPr lang="en-US" dirty="0"/>
              <a:t> margin at least 20% above the floor (1.2 × $4,000 = </a:t>
            </a:r>
            <a:r>
              <a:rPr lang="en-US" b="1" dirty="0"/>
              <a:t>$4,800</a:t>
            </a:r>
            <a:r>
              <a:rPr lang="en-US" dirty="0"/>
              <a:t>). Plus the implied condition that the bid is at or below max buy. This is the "act now, don't overthink it" shortlist — it's not just acceptable, it's comfortably good on both speed and money.</a:t>
            </a:r>
          </a:p>
          <a:p>
            <a:pPr rtl="0"/>
            <a:r>
              <a:rPr lang="en-US" b="1" dirty="0"/>
              <a:t>BUY —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contribution ≥ min</a:t>
            </a:r>
            <a:br>
              <a:rPr lang="en-US" dirty="0"/>
            </a:br>
            <a:r>
              <a:rPr lang="en-US" dirty="0"/>
              <a:t>Falls here if it clears the floor but not the STRONG bar — contribution ≥ $4,000 and it still sells within target at a bid ≤ max, just with thinner headroom or a sub-85% sale probability. A good deal, not an exceptional one.</a:t>
            </a:r>
          </a:p>
          <a:p>
            <a:pPr rtl="0"/>
            <a:r>
              <a:rPr lang="en-US" b="1" dirty="0"/>
              <a:t>NEGOTIATE —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bid &gt; max ≤ 1.1×</a:t>
            </a:r>
            <a:br>
              <a:rPr lang="en-US" dirty="0"/>
            </a:br>
            <a:r>
              <a:rPr lang="en-US" dirty="0"/>
              <a:t>The car itself is attractive, but the </a:t>
            </a:r>
            <a:r>
              <a:rPr lang="en-US" b="1" dirty="0"/>
              <a:t>current bid is above your max buy price</a:t>
            </a:r>
            <a:r>
              <a:rPr lang="en-US" dirty="0"/>
              <a:t> — by no more than ~10%. Translation: "good car, wrong price — worth pursuing </a:t>
            </a:r>
            <a:r>
              <a:rPr lang="en-US" i="1" dirty="0"/>
              <a:t>if you can get it down to</a:t>
            </a:r>
            <a:r>
              <a:rPr lang="en-US" dirty="0"/>
              <a:t> $[max]." Below max it'd be a BUY; between max and 1.1×max it's close enough to be worth haggling; further than that, you walk.</a:t>
            </a:r>
          </a:p>
          <a:p>
            <a:pPr rtl="0"/>
            <a:r>
              <a:rPr lang="en-US" b="1" dirty="0"/>
              <a:t>PASS — everything else</a:t>
            </a:r>
            <a:br>
              <a:rPr lang="en-US" dirty="0"/>
            </a:br>
            <a:r>
              <a:rPr lang="en-US" dirty="0"/>
              <a:t>It fails a gate: too slow (P below target / days beyond the window), margin below the floor even at a fair price, priced more than 10% over max, or it trips a risk/portfolio rule. Framed as "not right for </a:t>
            </a:r>
            <a:r>
              <a:rPr lang="en-US" i="1" dirty="0"/>
              <a:t>this</a:t>
            </a:r>
            <a:r>
              <a:rPr lang="en-US" dirty="0"/>
              <a:t> dealer's objective," not "bad car."</a:t>
            </a:r>
          </a:p>
          <a:p>
            <a:pPr rtl="0"/>
            <a:endParaRPr lang="en-US" dirty="0"/>
          </a:p>
          <a:p>
            <a:pPr rtl="0"/>
            <a:r>
              <a:rPr lang="en-US" dirty="0"/>
              <a:t>The RAV4 shows the whole ladder as price rises (this is what the price simulator animates):</a:t>
            </a:r>
          </a:p>
          <a:p>
            <a:pPr lvl="0" rtl="0"/>
            <a:r>
              <a:rPr lang="en-US" dirty="0"/>
              <a:t>Bid </a:t>
            </a:r>
            <a:r>
              <a:rPr lang="en-US" b="1" dirty="0"/>
              <a:t>$23,000</a:t>
            </a:r>
            <a:r>
              <a:rPr lang="en-US" dirty="0"/>
              <a:t> → contribution $5,038 (≥$4,800), P 89% (≥0.85), bid ≤ max → </a:t>
            </a:r>
            <a:r>
              <a:rPr lang="en-US" b="1" dirty="0"/>
              <a:t>STRONG BUY</a:t>
            </a:r>
            <a:endParaRPr lang="en-US" dirty="0"/>
          </a:p>
          <a:p>
            <a:pPr lvl="0" rtl="0"/>
            <a:r>
              <a:rPr lang="en-US" dirty="0"/>
              <a:t>Bid </a:t>
            </a:r>
            <a:r>
              <a:rPr lang="en-US" b="1" dirty="0"/>
              <a:t>$24,038</a:t>
            </a:r>
            <a:r>
              <a:rPr lang="en-US" dirty="0"/>
              <a:t> (= max, contribution exactly $4,000) → clears min but not 1.2×min → </a:t>
            </a:r>
            <a:r>
              <a:rPr lang="en-US" b="1" dirty="0"/>
              <a:t>BUY</a:t>
            </a:r>
            <a:endParaRPr lang="en-US" dirty="0"/>
          </a:p>
          <a:p>
            <a:pPr lvl="0" rtl="0"/>
            <a:r>
              <a:rPr lang="en-US" dirty="0"/>
              <a:t>Bid </a:t>
            </a:r>
            <a:r>
              <a:rPr lang="en-US" b="1" dirty="0"/>
              <a:t>$24,038 – ~$26,400</a:t>
            </a:r>
            <a:r>
              <a:rPr lang="en-US" dirty="0"/>
              <a:t> (up to 1.1× max) → </a:t>
            </a:r>
            <a:r>
              <a:rPr lang="en-US" b="1" dirty="0"/>
              <a:t>NEGOTIATE</a:t>
            </a:r>
            <a:endParaRPr lang="en-US" dirty="0"/>
          </a:p>
          <a:p>
            <a:pPr lvl="0" rtl="0"/>
            <a:r>
              <a:rPr lang="en-US" dirty="0"/>
              <a:t>Above that → </a:t>
            </a:r>
            <a:r>
              <a:rPr lang="en-US" b="1" dirty="0"/>
              <a:t>PASS</a:t>
            </a:r>
            <a:endParaRPr lang="en-US" dirty="0"/>
          </a:p>
          <a:p>
            <a:pPr rtl="0"/>
            <a:r>
              <a:rPr lang="en-US" dirty="0"/>
              <a:t>Two things worth saying in the interview: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0.85</a:t>
            </a:r>
            <a:r>
              <a:rPr lang="en-US" dirty="0"/>
              <a:t>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1.2×</a:t>
            </a:r>
            <a:r>
              <a:rPr lang="en-US" dirty="0"/>
              <a:t> are deliberately </a:t>
            </a:r>
            <a:r>
              <a:rPr lang="en-US" i="1" dirty="0"/>
              <a:t>conservative</a:t>
            </a:r>
            <a:r>
              <a:rPr lang="en-US" dirty="0"/>
              <a:t> gates so STRONG BUY stays a small, trustworthy set — and every threshold here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target</a:t>
            </a:r>
            <a:r>
              <a:rPr lang="en-US" dirty="0"/>
              <a:t>, and the multipliers) is </a:t>
            </a:r>
            <a:r>
              <a:rPr lang="en-US" b="1" dirty="0"/>
              <a:t>dealer-configurable strategy</a:t>
            </a:r>
            <a:r>
              <a:rPr lang="en-US" dirty="0"/>
              <a:t>, not a fixed model constant. Raise the minimum contribution to $6,000 and the STRONG BUYs collapse instantly — which is the whole "the model predicts, the strategy decides" point.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00626-0172-D0DA-8151-1F1604524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9B2D5A-8CD8-67EC-8F30-3EED11446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9F2297-13A7-2897-EA18-03EDBAB7C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B151B-1F40-818F-881D-50EF69A463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905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66928" y="26974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AD3F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PRODUCT &amp; DATA STRATEGY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30175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SourceIQ</a:t>
            </a:r>
            <a:r>
              <a:rPr lang="en-US" sz="4600" b="1" dirty="0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 Inventory Intelligence</a:t>
            </a:r>
            <a:endParaRPr lang="en-US" sz="4600" dirty="0">
              <a:latin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4114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3F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AI-powered used-vehicle sourcing, pricing and inventory decisions — knowing which cars to buy, the most to pay, and what to do before capital gets stuck.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6928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Author: </a:t>
            </a:r>
            <a:r>
              <a:rPr lang="en-US" sz="1200" dirty="0">
                <a:solidFill>
                  <a:srgbClr val="CAD3F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Ujjwal Padha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01CC18-E488-F476-2B98-B818276FC0E8}"/>
              </a:ext>
            </a:extLst>
          </p:cNvPr>
          <p:cNvSpPr txBox="1"/>
          <p:nvPr/>
        </p:nvSpPr>
        <p:spPr>
          <a:xfrm>
            <a:off x="4416136" y="19119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Dealers buy inventory blind and capital gets stuck</a:t>
            </a:r>
            <a:endParaRPr lang="en-US" sz="3000" dirty="0">
              <a:latin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230124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Used-vehicle acquisition is still driven by intuition, manual market checks and spreadsheets. Without a dealer-specific view of how fast a car will sell, at what price, and with what risk, the wrong cars get bought and they sit.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39928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result: excessive days-on-lot, capital tied up in slow movers, rising floor-plan cost, markdowns and margin erosion.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0" y="2301240"/>
            <a:ext cx="1737360" cy="2743200"/>
          </a:xfrm>
          <a:prstGeom prst="roundRect">
            <a:avLst>
              <a:gd name="adj" fmla="val 4211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0" y="26670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72</a:t>
            </a:r>
            <a:endParaRPr lang="en-US" sz="3800" dirty="0">
              <a:latin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10528" y="3581400"/>
            <a:ext cx="15179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days average days-on-lot</a:t>
            </a:r>
            <a:endParaRPr lang="en-US" sz="1200" dirty="0">
              <a:latin typeface="Cambria" panose="02040503050406030204" pitchFamily="18" charset="0"/>
            </a:endParaRPr>
          </a:p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(target under 45 days)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75320" y="2301240"/>
            <a:ext cx="1737360" cy="2743200"/>
          </a:xfrm>
          <a:prstGeom prst="roundRect">
            <a:avLst>
              <a:gd name="adj" fmla="val 4211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75320" y="26670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-18%</a:t>
            </a:r>
            <a:endParaRPr lang="en-US" sz="3800" dirty="0">
              <a:latin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385048" y="3581400"/>
            <a:ext cx="15179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gross profit per vehicle,</a:t>
            </a:r>
            <a:endParaRPr lang="en-US" sz="1200" dirty="0">
              <a:latin typeface="Cambria" panose="02040503050406030204" pitchFamily="18" charset="0"/>
            </a:endParaRPr>
          </a:p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year over year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149840" y="2301240"/>
            <a:ext cx="1737360" cy="2743200"/>
          </a:xfrm>
          <a:prstGeom prst="roundRect">
            <a:avLst>
              <a:gd name="adj" fmla="val 4211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149840" y="26670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3200" dirty="0">
              <a:latin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59568" y="3581400"/>
            <a:ext cx="15179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fragmented tools per</a:t>
            </a:r>
            <a:endParaRPr lang="en-US" sz="1200" dirty="0">
              <a:latin typeface="Cambria" panose="02040503050406030204" pitchFamily="18" charset="0"/>
            </a:endParaRPr>
          </a:p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sourcing decision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SourceIQ</a:t>
            </a: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Inventory Intelligence</a:t>
            </a:r>
            <a:endParaRPr lang="en-US" sz="9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Turn inventory faster while protecting contribution</a:t>
            </a:r>
            <a:endParaRPr lang="en-US" sz="3000" dirty="0">
              <a:latin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41248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BUSINESS GOAL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41248" y="2286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Average days-on-lot</a:t>
            </a:r>
            <a:endParaRPr lang="en-US" sz="1300" dirty="0">
              <a:latin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035808" y="2286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72  →  under 45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41248" y="3154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Gross profit per unit</a:t>
            </a:r>
            <a:endParaRPr lang="en-US" sz="1300" dirty="0">
              <a:latin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035808" y="3154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+10% or better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41248" y="4023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>
              <a:latin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035808" y="40233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Fast enough sell-through + sufficient gross margin + controlled risk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63640" y="1645920"/>
            <a:ext cx="5532120" cy="35661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37960" y="1874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3F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NORTH-STAR METRIC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37960" y="22402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Expected realized gross margin</a:t>
            </a:r>
            <a:endParaRPr lang="en-US" sz="2200" dirty="0">
              <a:latin typeface="Cambria" panose="02040503050406030204" pitchFamily="18" charset="0"/>
            </a:endParaRPr>
          </a:p>
          <a:p>
            <a:pPr marL="0" indent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per inventory dollar-day</a:t>
            </a:r>
            <a:endParaRPr lang="en-US" sz="2200" dirty="0">
              <a:latin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3796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3F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Contribution  ÷  (Capital invested  *  Days held)</a:t>
            </a:r>
            <a:endParaRPr lang="en-US" sz="1300" dirty="0">
              <a:latin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37960" y="36576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AD3F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 $5,000-gross car that takes 90 days can be worse than a $3,800 car that sells in 28. The product optimises the whole equation, not gross margin in isolation.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66928" y="54864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Track: days-on-lot · gross contribution/unit · contribution after holding cost · % sold within target · prediction calibration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SourceIQ</a:t>
            </a: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Inventory Intelligence</a:t>
            </a:r>
            <a:endParaRPr lang="en-US" sz="9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PRODUCT THESIS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right car for </a:t>
            </a:r>
            <a:r>
              <a:rPr lang="en-US" sz="3000" b="1" dirty="0">
                <a:solidFill>
                  <a:srgbClr val="0070C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THIS</a:t>
            </a:r>
            <a:r>
              <a:rPr lang="en-US" sz="30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>
                <a:solidFill>
                  <a:srgbClr val="0070C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dealer</a:t>
            </a:r>
            <a:r>
              <a:rPr lang="en-US" sz="30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, at </a:t>
            </a:r>
            <a:r>
              <a:rPr lang="en-US" sz="3000" b="1" dirty="0">
                <a:solidFill>
                  <a:srgbClr val="0070C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THIS price</a:t>
            </a:r>
            <a:r>
              <a:rPr lang="en-US" sz="30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3000" b="1" dirty="0">
                <a:solidFill>
                  <a:srgbClr val="0070C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right</a:t>
            </a:r>
            <a:r>
              <a:rPr lang="en-US" sz="30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>
                <a:solidFill>
                  <a:srgbClr val="0070C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3000" dirty="0">
              <a:solidFill>
                <a:srgbClr val="0070C0"/>
              </a:solidFill>
              <a:latin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ECEEFB"/>
          </a:solidFill>
          <a:ln w="12700">
            <a:solidFill>
              <a:srgbClr val="D6DBFA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201168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386584" y="2011680"/>
            <a:ext cx="310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>
              <a:latin typeface="Cambria" panose="020405030504060302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697480" y="201168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ECEEFB"/>
          </a:solidFill>
          <a:ln w="12700">
            <a:solidFill>
              <a:srgbClr val="D6DBFA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697480" y="201168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17136" y="2011680"/>
            <a:ext cx="310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>
              <a:latin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28032" y="201168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ECEEFB"/>
          </a:solidFill>
          <a:ln w="12700">
            <a:solidFill>
              <a:srgbClr val="D6DBFA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28032" y="201168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Dealer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47688" y="2011680"/>
            <a:ext cx="310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>
              <a:latin typeface="Cambria" panose="020405030504060302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958584" y="201168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ECEEFB"/>
          </a:solidFill>
          <a:ln w="12700">
            <a:solidFill>
              <a:srgbClr val="D6DBFA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958584" y="201168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778240" y="2011680"/>
            <a:ext cx="310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>
              <a:latin typeface="Cambria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089136" y="201168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ECEEFB"/>
          </a:solidFill>
          <a:ln w="12700">
            <a:solidFill>
              <a:srgbClr val="D6DBFA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089136" y="201168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66928" y="3383280"/>
            <a:ext cx="11057839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6928" y="3383280"/>
            <a:ext cx="110578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=   A dealer-specific recommendation:  BUY / NEGOTIATE / PASS  +  the maximum price to pay</a:t>
            </a: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6928" y="4754880"/>
            <a:ext cx="1105783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same 2021 RAV4 can be an excellent buy for a dealer short on compact SUVs with fast Toyota turns and a poor buy for a dealer already overstocked, with high floor-plan cost and a 30-day target. Market truth + economic truth + dealer truth = the decision.</a:t>
            </a:r>
            <a:endParaRPr lang="en-US" sz="1350" dirty="0">
              <a:latin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SourceIQ</a:t>
            </a: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Inventory Intelligence</a:t>
            </a:r>
            <a:endParaRPr lang="en-US" sz="9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OBJECTIVE FUNCTION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Maximise risk-adjusted contribution, within constraints</a:t>
            </a:r>
            <a:endParaRPr lang="en-US" sz="3000" dirty="0">
              <a:latin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3566160"/>
          </a:xfrm>
          <a:prstGeom prst="roundRect">
            <a:avLst>
              <a:gd name="adj" fmla="val 2051"/>
            </a:avLst>
          </a:prstGeom>
          <a:solidFill>
            <a:srgbClr val="F0F2FB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86968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MAXIMISE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86968" y="21945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036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E[ Expected Contribution ]</a:t>
            </a:r>
            <a:endParaRPr lang="en-US" sz="2200" dirty="0">
              <a:latin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86968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SUBJECT TO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6968" y="3200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P(sale ≤ target days)</a:t>
            </a:r>
            <a:endParaRPr lang="en-US" sz="1300" dirty="0">
              <a:latin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78808" y="3200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≥  minimum velocity, </a:t>
            </a:r>
            <a:r>
              <a:rPr lang="en-US" sz="1400" i="1" dirty="0" err="1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θ</a:t>
            </a:r>
            <a:endParaRPr lang="en-US" sz="1300" dirty="0">
              <a:latin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86968" y="3657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P(loss)</a:t>
            </a:r>
            <a:endParaRPr lang="en-US" sz="1300" dirty="0">
              <a:latin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78808" y="3657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≤  risk tolerance, ρ</a:t>
            </a:r>
            <a:endParaRPr lang="en-US" sz="1300" dirty="0">
              <a:latin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86968" y="4114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Σ acquisition cost</a:t>
            </a:r>
            <a:endParaRPr lang="en-US" sz="1300" dirty="0">
              <a:latin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78808" y="4114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≤  capital budget (inc. floor plan financing)</a:t>
            </a:r>
            <a:endParaRPr lang="en-US" sz="1300" dirty="0">
              <a:latin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86968" y="4572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Inventory count &amp; mix</a:t>
            </a:r>
            <a:endParaRPr lang="en-US" sz="1300" dirty="0">
              <a:latin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78808" y="4572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≤  capacity / target mix</a:t>
            </a:r>
            <a:endParaRPr lang="en-US" sz="1300" dirty="0">
              <a:latin typeface="Cambria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680960" y="169164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95528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3F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CAPITAL VELOCITY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55280" y="23317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b="1" dirty="0">
                <a:solidFill>
                  <a:schemeClr val="bg1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Contribution</a:t>
            </a:r>
          </a:p>
          <a:p>
            <a:pPr marL="0" indent="0" algn="ctr">
              <a:lnSpc>
                <a:spcPts val="2400"/>
              </a:lnSpc>
              <a:buNone/>
            </a:pPr>
            <a:endParaRPr lang="en-US" sz="1900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0" indent="0" algn="ctr">
              <a:lnSpc>
                <a:spcPts val="2400"/>
              </a:lnSpc>
              <a:buNone/>
            </a:pPr>
            <a:r>
              <a:rPr lang="en-US" sz="1900" b="1" dirty="0">
                <a:solidFill>
                  <a:schemeClr val="bg1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Capital × Days held</a:t>
            </a:r>
            <a:endParaRPr lang="en-US" sz="19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955280" y="38404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AD3F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single objective that ties velocity, margin and capital together - and maps directly to the 72 → 45 days goal.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6928" y="55321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model predicts the world; the dealer’s thresholds (θ, ρ, budget, mix) turn it into a decision - so policy can change without retraining.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SourceIQ</a:t>
            </a: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Inventory Intelligence</a:t>
            </a:r>
            <a:endParaRPr lang="en-US" sz="900" dirty="0">
              <a:latin typeface="Cambria" panose="02040503050406030204" pitchFamily="18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A2C83D0-FEA0-394B-F839-7BBCD9036CA7}"/>
              </a:ext>
            </a:extLst>
          </p:cNvPr>
          <p:cNvCxnSpPr/>
          <p:nvPr/>
        </p:nvCxnSpPr>
        <p:spPr>
          <a:xfrm>
            <a:off x="8229600" y="2954839"/>
            <a:ext cx="304769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DEALER CONSTRAINTS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Every dealer decides differently</a:t>
            </a:r>
            <a:endParaRPr lang="en-US" sz="3000" dirty="0">
              <a:latin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46040" cy="1783080"/>
          </a:xfrm>
          <a:prstGeom prst="roundRect">
            <a:avLst>
              <a:gd name="adj" fmla="val 4103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41248" y="19659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CEEFB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41248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89888" y="1965960"/>
            <a:ext cx="424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Strategic goals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41248" y="2468880"/>
            <a:ext cx="479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Target days-to-sale (45) · minimum contribution ($4,000) · primary objective (turn vs margin)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78728" y="1691640"/>
            <a:ext cx="5346040" cy="1783080"/>
          </a:xfrm>
          <a:prstGeom prst="roundRect">
            <a:avLst>
              <a:gd name="adj" fmla="val 4103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553048" y="19659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CEEFB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53048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101688" y="1965960"/>
            <a:ext cx="424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Risk appetite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53048" y="2468880"/>
            <a:ext cx="479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Conservative / moderate / aggressive - sets velocity floor, loss tolerance and how much thin-data risk is acceptable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66928" y="3794760"/>
            <a:ext cx="5346040" cy="1783080"/>
          </a:xfrm>
          <a:prstGeom prst="roundRect">
            <a:avLst>
              <a:gd name="adj" fmla="val 4103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41248" y="40690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CEEFB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41248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89888" y="4069080"/>
            <a:ext cx="424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Capital constraints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41248" y="4572000"/>
            <a:ext cx="479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Monthly budget ($2M) · max average acquisition price · maximum inventory units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78728" y="3794760"/>
            <a:ext cx="5346040" cy="1783080"/>
          </a:xfrm>
          <a:prstGeom prst="roundRect">
            <a:avLst>
              <a:gd name="adj" fmla="val 4103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553048" y="40690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CEEFB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53048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101688" y="4069080"/>
            <a:ext cx="424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Inventory &amp; portfolio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53048" y="4572000"/>
            <a:ext cx="479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Segment targets &amp; gaps · same-model exposure · hard rules (no salvage,  frame, &gt;100k mi)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66928" y="562356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Hard constraints force a PASS regardless of economics; soft preferences bend when the economics are strong enough.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SourceIQ</a:t>
            </a: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Inventory Intelligence</a:t>
            </a:r>
            <a:endParaRPr lang="en-US" sz="9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PRODUCT STRATEGY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An intelligence layer on the workflow, not another dashboard</a:t>
            </a:r>
            <a:endParaRPr lang="en-US" sz="3000" dirty="0">
              <a:latin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41248" y="196596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4C5FD7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41248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41248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Prediction ≠ Decision</a:t>
            </a:r>
            <a:endParaRPr lang="en-US" sz="1550" dirty="0">
              <a:latin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41248" y="30175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ML predicts what will happen; a deterministic engine + dealer thresholds decide what to do. Explainable, personalised, tunable.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07408" y="169164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81728" y="196596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4C5FD7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81728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81728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Cognitive-light</a:t>
            </a:r>
            <a:endParaRPr lang="en-US" sz="1550" dirty="0">
              <a:latin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81728" y="30175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Every screen answers Action → Outcome → Reason → Evidence. The dealer sees a call and a price, not 25 metrics.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47888" y="169164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522208" y="196596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4C5FD7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522208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522208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Dealer in control</a:t>
            </a:r>
            <a:endParaRPr lang="en-US" sz="1550" dirty="0">
              <a:latin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522208" y="30175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system recommends; the dealer accepts, rejects or overrides and every override becomes a training signal.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66928" y="4709160"/>
            <a:ext cx="11057839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86968" y="4846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AD3F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HERO OUTPUT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86968" y="5120640"/>
            <a:ext cx="104177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“Buy this vehicle  but don’t pay more than $24,038. Expected to sell in 34 days at $5,038 contribution.”</a:t>
            </a:r>
            <a:endParaRPr lang="en-US" sz="1700" dirty="0">
              <a:latin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SourceIQ</a:t>
            </a: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Inventory Intelligence</a:t>
            </a:r>
            <a:endParaRPr lang="en-US" sz="9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BUSINESS LOGIC &amp; CALCULATIONS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From prediction to a price you can act on</a:t>
            </a:r>
            <a:endParaRPr lang="en-US" sz="3000" dirty="0">
              <a:latin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6400800" cy="3977640"/>
          </a:xfrm>
          <a:prstGeom prst="roundRect">
            <a:avLst>
              <a:gd name="adj" fmla="val 1839"/>
            </a:avLst>
          </a:prstGeom>
          <a:solidFill>
            <a:srgbClr val="F0F2FB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86968" y="18745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Non-purchase cost</a:t>
            </a:r>
            <a:endParaRPr lang="en-US" sz="1350" dirty="0">
              <a:latin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86968" y="216712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Auction Fees + Transport + Marketing + Recon + Holding costs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86968" y="28072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Expected contribution</a:t>
            </a:r>
            <a:endParaRPr lang="en-US" sz="1350" dirty="0">
              <a:latin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6968" y="309981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Expected retail price − Acquisition cost − Non-purchase cost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86968" y="373989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Recommended max buy</a:t>
            </a:r>
            <a:endParaRPr lang="en-US" sz="1350" dirty="0">
              <a:latin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86968" y="403250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Expected retail − Non-purchase cost − Target contribution </a:t>
            </a:r>
            <a:r>
              <a:rPr lang="en-US" sz="1200" i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(set by dealer as per business objective)</a:t>
            </a:r>
            <a:endParaRPr lang="en-US" sz="1200" i="1" dirty="0">
              <a:latin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86968" y="467258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Decision policy</a:t>
            </a:r>
            <a:endParaRPr lang="en-US" sz="1350" dirty="0">
              <a:latin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86968" y="496519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P(≤target) ≥ 0.85 &amp; contribution ≥ 1.2× min &amp; bid &lt; max buy price→ STRONG BUY 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Contribution ≥ min &amp; bid &lt; max buy price → BUY 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bid &gt; max buy price ≤ 1.1*(max buy price) → NEGOTIATE;  else PASS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086600" y="1645920"/>
            <a:ext cx="4709160" cy="3977640"/>
          </a:xfrm>
          <a:prstGeom prst="roundRect">
            <a:avLst>
              <a:gd name="adj" fmla="val 1839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60920" y="1874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WORKED — 2021 RAV4 XLE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6092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Expected retail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104120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$30,500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60920" y="2715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Current bid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104120" y="27157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$23,000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60920" y="31455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Non-purchase cost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104120" y="31455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$2,462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60920" y="35753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Expected contribution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104120" y="357530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$5,038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60920" y="4005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Recommended max buy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104120" y="40050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$24,038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60920" y="4434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Bid headroom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104120" y="4434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$1,038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360920" y="4864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104120" y="48646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28A5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STRONG BUY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SourceIQ</a:t>
            </a: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Inventory Intelligence</a:t>
            </a:r>
            <a:endParaRPr lang="en-US" sz="9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Six models, one decision</a:t>
            </a:r>
            <a:endParaRPr lang="en-US" sz="3000" dirty="0">
              <a:latin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503066" cy="1783080"/>
          </a:xfrm>
          <a:prstGeom prst="roundRect">
            <a:avLst>
              <a:gd name="adj" fmla="val 4103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99339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4C5FD7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29910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Vehicle understanding</a:t>
            </a:r>
            <a:endParaRPr lang="en-US" sz="1450" dirty="0">
              <a:latin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907792"/>
            <a:ext cx="29910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What exactly is this vehicle? (VIN → clean entity)</a:t>
            </a:r>
            <a:endParaRPr lang="en-US" sz="1150" dirty="0">
              <a:latin typeface="Cambria" panose="020405030504060302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44314" y="1737360"/>
            <a:ext cx="3503066" cy="1783080"/>
          </a:xfrm>
          <a:prstGeom prst="roundRect">
            <a:avLst>
              <a:gd name="adj" fmla="val 4103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00346" y="199339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4C5FD7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00346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00346" y="2514600"/>
            <a:ext cx="29910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Demand / velocity</a:t>
            </a:r>
            <a:endParaRPr lang="en-US" sz="1450" dirty="0">
              <a:latin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00346" y="2907792"/>
            <a:ext cx="29910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Will it sell, and how fast? → P(sale ≤ 30/ 45/ 60 days)</a:t>
            </a:r>
            <a:endParaRPr lang="en-US" sz="1150" dirty="0">
              <a:latin typeface="Cambria" panose="020405030504060302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21701" y="1737360"/>
            <a:ext cx="3503066" cy="1783080"/>
          </a:xfrm>
          <a:prstGeom prst="roundRect">
            <a:avLst>
              <a:gd name="adj" fmla="val 4103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377733" y="199339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4C5FD7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77733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77733" y="2514600"/>
            <a:ext cx="29910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450" dirty="0">
              <a:latin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77733" y="2907792"/>
            <a:ext cx="29910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What will it realistically sell for? → range</a:t>
            </a:r>
            <a:endParaRPr lang="en-US" sz="1150" dirty="0">
              <a:latin typeface="Cambria" panose="020405030504060302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66928" y="3840480"/>
            <a:ext cx="3503066" cy="1783080"/>
          </a:xfrm>
          <a:prstGeom prst="roundRect">
            <a:avLst>
              <a:gd name="adj" fmla="val 4103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22960" y="40965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4C5FD7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296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2960" y="4617720"/>
            <a:ext cx="29910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450" dirty="0">
              <a:latin typeface="Cambria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2960" y="5010912"/>
            <a:ext cx="29910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Recon + fees + transport + holding → all-in cost</a:t>
            </a:r>
            <a:endParaRPr lang="en-US" sz="1150" dirty="0">
              <a:latin typeface="Cambria" panose="020405030504060302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344314" y="3840480"/>
            <a:ext cx="3503066" cy="1783080"/>
          </a:xfrm>
          <a:prstGeom prst="roundRect">
            <a:avLst>
              <a:gd name="adj" fmla="val 4103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600346" y="40965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4C5FD7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600346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600346" y="4617720"/>
            <a:ext cx="29910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450" dirty="0">
              <a:latin typeface="Cambria" panose="020405030504060302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600346" y="5010912"/>
            <a:ext cx="29910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How certain are we? → confidence &amp; P(loss)</a:t>
            </a:r>
            <a:endParaRPr lang="en-US" sz="1150" dirty="0">
              <a:latin typeface="Cambria" panose="020405030504060302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121701" y="3840480"/>
            <a:ext cx="3503066" cy="1783080"/>
          </a:xfrm>
          <a:prstGeom prst="roundRect">
            <a:avLst>
              <a:gd name="adj" fmla="val 4103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377733" y="40965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4C5FD7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377733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377733" y="4617720"/>
            <a:ext cx="29910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1450" dirty="0">
              <a:latin typeface="Cambria" panose="020405030504060302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377733" y="5010912"/>
            <a:ext cx="29910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What should THIS dealer do? → max buy + call</a:t>
            </a:r>
            <a:endParaRPr lang="en-US" sz="1150" dirty="0">
              <a:latin typeface="Cambria" panose="020405030504060302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66928" y="58064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Each component has an explicit input, output and business question — not one black-box score.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SourceIQ</a:t>
            </a: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Inventory Intelligence</a:t>
            </a:r>
            <a:endParaRPr lang="en-US" sz="9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DATA STRATEGY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Five layers from raw feed to decision</a:t>
            </a:r>
            <a:endParaRPr lang="en-US" sz="3000" dirty="0">
              <a:latin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7863840" cy="749808"/>
          </a:xfrm>
          <a:prstGeom prst="roundRect">
            <a:avLst>
              <a:gd name="adj" fmla="val 9756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41248" y="182880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1 · Raw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310128" y="1828800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Auction feeds, listings, inspections, dealer inventory, sales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2724912"/>
            <a:ext cx="7863840" cy="749808"/>
          </a:xfrm>
          <a:prstGeom prst="roundRect">
            <a:avLst>
              <a:gd name="adj" fmla="val 9756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41248" y="272491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2 · Normalised entities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310128" y="2724912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VIN as the vehicle identity key; dealer, market, listing, transaction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66928" y="3621024"/>
            <a:ext cx="7863840" cy="749808"/>
          </a:xfrm>
          <a:prstGeom prst="roundRect">
            <a:avLst>
              <a:gd name="adj" fmla="val 9756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41248" y="3621024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3 · Feature store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310128" y="3621024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Vehicle age, mileage band, price-to-market, market days supply, dealer velocity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66928" y="4517136"/>
            <a:ext cx="7863840" cy="749808"/>
          </a:xfrm>
          <a:prstGeom prst="roundRect">
            <a:avLst>
              <a:gd name="adj" fmla="val 9756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41248" y="4517136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4 · Prediction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10128" y="4517136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Sell-through, days-to-sale, retail price, recon cost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66928" y="5413248"/>
            <a:ext cx="7863840" cy="749808"/>
          </a:xfrm>
          <a:prstGeom prst="roundRect">
            <a:avLst>
              <a:gd name="adj" fmla="val 975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41248" y="541324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5 · Decision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10128" y="5413248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3F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Expected contribution, max buy price, BUY / NEGOTIATE / PASS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86800" y="1828800"/>
            <a:ext cx="3108960" cy="4297680"/>
          </a:xfrm>
          <a:prstGeom prst="roundRect">
            <a:avLst>
              <a:gd name="adj" fmla="val 2353"/>
            </a:avLst>
          </a:prstGeom>
          <a:solidFill>
            <a:srgbClr val="F0F2FB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91540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WHY VIN-FIRST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915400" y="2377440"/>
            <a:ext cx="2697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VIN links auction history, inspection, accident and service records, retail listing and final sale outcome into one identity — so every prediction and every actual outcome attaches to the same vehicle.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915400" y="49377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LLMs normalise messy text; the stored representation stays deterministic.</a:t>
            </a:r>
            <a:endParaRPr lang="en-US" sz="1150" dirty="0">
              <a:latin typeface="Cambria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SourceIQ</a:t>
            </a: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Inventory Intelligence</a:t>
            </a:r>
            <a:endParaRPr lang="en-US" sz="9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DATA STRATEGY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What data feeds which model and how we get it</a:t>
            </a:r>
            <a:endParaRPr lang="en-US" sz="3000" dirty="0">
              <a:latin typeface="Cambria" panose="02040503050406030204" pitchFamily="18" charset="0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412704"/>
              </p:ext>
            </p:extLst>
          </p:nvPr>
        </p:nvGraphicFramePr>
        <p:xfrm>
          <a:off x="566928" y="1737360"/>
          <a:ext cx="11064240" cy="3968496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Data domain</a:t>
                      </a:r>
                      <a:endParaRPr lang="en-US" sz="12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Normalisation</a:t>
                      </a:r>
                      <a:endParaRPr lang="en-US" sz="12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Used by</a:t>
                      </a:r>
                      <a:endParaRPr lang="en-US" sz="12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036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Vehicle identity &amp; specs</a:t>
                      </a:r>
                      <a:endParaRPr lang="en-US" sz="12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036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Auction feeds, VIN decode</a:t>
                      </a:r>
                      <a:endParaRPr lang="en-US" sz="12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036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Entity resolution → canonical VIN</a:t>
                      </a:r>
                      <a:endParaRPr lang="en-US" sz="12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036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All layers</a:t>
                      </a:r>
                      <a:endParaRPr lang="en-US" sz="12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036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Condition &amp; inspection</a:t>
                      </a:r>
                      <a:endParaRPr lang="en-US" sz="12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036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Auction reports, images </a:t>
                      </a:r>
                      <a:r>
                        <a:rPr lang="en-US" sz="1200" i="1" dirty="0">
                          <a:solidFill>
                            <a:srgbClr val="1B2036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(</a:t>
                      </a:r>
                      <a:r>
                        <a:rPr lang="en-US" sz="1200" i="1" dirty="0" err="1">
                          <a:solidFill>
                            <a:srgbClr val="1B2036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SourceIQ</a:t>
                      </a:r>
                      <a:r>
                        <a:rPr lang="en-US" sz="1200" i="1" dirty="0">
                          <a:solidFill>
                            <a:srgbClr val="1B2036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 core data)</a:t>
                      </a:r>
                      <a:endParaRPr lang="en-US" sz="1200" i="1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036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Structured fields (CV later)</a:t>
                      </a:r>
                      <a:endParaRPr lang="en-US" sz="12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036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Recon-cost model</a:t>
                      </a:r>
                      <a:endParaRPr lang="en-US" sz="12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036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Market demand &amp; supply</a:t>
                      </a:r>
                      <a:endParaRPr lang="en-US" sz="12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036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Listings, sales, market data</a:t>
                      </a:r>
                      <a:endParaRPr lang="en-US" sz="12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036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Comparable weighting by similarity</a:t>
                      </a:r>
                      <a:endParaRPr lang="en-US" sz="12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036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Demand / velocity</a:t>
                      </a:r>
                      <a:endParaRPr lang="en-US" sz="12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036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Competitive pricing</a:t>
                      </a:r>
                      <a:endParaRPr lang="en-US" sz="12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036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Live retail listings</a:t>
                      </a:r>
                      <a:endParaRPr lang="en-US" sz="12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036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Price-to-market, percentile</a:t>
                      </a:r>
                      <a:endParaRPr lang="en-US" sz="12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036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Price model</a:t>
                      </a:r>
                      <a:endParaRPr lang="en-US" sz="12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036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Dealer inventory &amp; history</a:t>
                      </a:r>
                      <a:endParaRPr lang="en-US" sz="12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036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Dealer DMS</a:t>
                      </a:r>
                      <a:endParaRPr lang="en-US" sz="12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036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Dealer-specific priors</a:t>
                      </a:r>
                      <a:endParaRPr lang="en-US" sz="12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036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Fit &amp; decision</a:t>
                      </a:r>
                      <a:endParaRPr lang="en-US" sz="12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036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Outcomes</a:t>
                      </a:r>
                      <a:endParaRPr lang="en-US" sz="12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036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Sales transactions</a:t>
                      </a:r>
                      <a:endParaRPr lang="en-US" sz="12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036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Labels (days, price, recon)</a:t>
                      </a:r>
                      <a:endParaRPr lang="en-US" sz="12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036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Training / calibration</a:t>
                      </a:r>
                      <a:endParaRPr lang="en-US" sz="12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SourceIQ</a:t>
            </a: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Inventory Intelligence</a:t>
            </a:r>
            <a:endParaRPr lang="en-US" sz="9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ML / AI MODELS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Different questions need different models</a:t>
            </a:r>
            <a:endParaRPr lang="en-US" sz="3000" dirty="0">
              <a:latin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503066" cy="1783080"/>
          </a:xfrm>
          <a:prstGeom prst="roundRect">
            <a:avLst>
              <a:gd name="adj" fmla="val 4103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993392"/>
            <a:ext cx="2991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Demand / velocity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487168"/>
            <a:ext cx="2991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Survival analysis → P(sale ≤ t). Handles right-censoring (unsold cars) that regression can’t.</a:t>
            </a:r>
            <a:endParaRPr lang="en-US" sz="1150" dirty="0">
              <a:latin typeface="Cambria" panose="020405030504060302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44314" y="1737360"/>
            <a:ext cx="3503066" cy="1783080"/>
          </a:xfrm>
          <a:prstGeom prst="roundRect">
            <a:avLst>
              <a:gd name="adj" fmla="val 4103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00346" y="1993392"/>
            <a:ext cx="2991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600346" y="2487168"/>
            <a:ext cx="2991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Gradient-boosted regression → P10 / P50 / P90, learned from realised transactions, not asking prices</a:t>
            </a:r>
            <a:r>
              <a:rPr lang="en-US" sz="1150" i="1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.(if asked price used then model’s representative accuracy might be questionable)</a:t>
            </a:r>
            <a:endParaRPr lang="en-US" sz="1150" i="1" dirty="0">
              <a:latin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121701" y="1737360"/>
            <a:ext cx="3503066" cy="1783080"/>
          </a:xfrm>
          <a:prstGeom prst="roundRect">
            <a:avLst>
              <a:gd name="adj" fmla="val 4103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377733" y="1993392"/>
            <a:ext cx="2991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Reconditioning cost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377733" y="2487168"/>
            <a:ext cx="2991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Regression on condition &amp; inspection; computer-vision on images in a later phase.</a:t>
            </a:r>
            <a:endParaRPr lang="en-US" sz="1150" dirty="0">
              <a:latin typeface="Cambria" panose="020405030504060302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66928" y="3840480"/>
            <a:ext cx="3503066" cy="1783080"/>
          </a:xfrm>
          <a:prstGeom prst="roundRect">
            <a:avLst>
              <a:gd name="adj" fmla="val 4103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4096512"/>
            <a:ext cx="2991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Price elasticity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4590288"/>
            <a:ext cx="2991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Price → demand curve, so the system optimises contribution, not sticker price.</a:t>
            </a:r>
            <a:endParaRPr lang="en-US" sz="1150" dirty="0">
              <a:latin typeface="Cambria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44314" y="3840480"/>
            <a:ext cx="3503066" cy="1783080"/>
          </a:xfrm>
          <a:prstGeom prst="roundRect">
            <a:avLst>
              <a:gd name="adj" fmla="val 4103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600346" y="4096512"/>
            <a:ext cx="2991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Aging / depreciation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600346" y="4590288"/>
            <a:ext cx="2991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Expected value over time — powers the hold-vs-exit decision.</a:t>
            </a:r>
            <a:endParaRPr lang="en-US" sz="1150" dirty="0">
              <a:latin typeface="Cambria" panose="020405030504060302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121701" y="3840480"/>
            <a:ext cx="3503066" cy="1783080"/>
          </a:xfrm>
          <a:prstGeom prst="roundRect">
            <a:avLst>
              <a:gd name="adj" fmla="val 4103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377733" y="4096512"/>
            <a:ext cx="2991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Decision / optimisation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377733" y="4590288"/>
            <a:ext cx="2991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Deterministic engine: economics + dealer thresholds → BUY / NEGOTIATE / PASS.</a:t>
            </a:r>
            <a:endParaRPr lang="en-US" sz="1150" dirty="0">
              <a:latin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66928" y="58064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Dealer-specific prediction = market prediction + dealer historical adjustment + current-context adjustment.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SourceIQ</a:t>
            </a: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Inventory Intelligence</a:t>
            </a:r>
            <a:endParaRPr lang="en-US" sz="9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AI ARCHITECTURE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LLM explains; it never computes the numbers</a:t>
            </a:r>
            <a:endParaRPr lang="en-US" sz="3000" dirty="0">
              <a:latin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41248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WHERE THE LLM IS USED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41248" y="233172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5FD7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69848" y="22311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Explain a recommendation in plain language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41248" y="288036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5FD7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9848" y="27797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Answer “why?” from structured context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41248" y="342900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5FD7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69848" y="332841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Explain price / bid trade-offs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41248" y="397764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5FD7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69848" y="38770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Diagnose why a unit is underperforming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41248" y="452628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5FD7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69848" y="442569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Natural-language search over the dealer’s data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41248" y="507492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5FD7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69848" y="49743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Generate the daily portfolio briefing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126480" y="1691640"/>
            <a:ext cx="5669280" cy="411480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AD3F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TOOL-CALLING FLOW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0" y="2286000"/>
            <a:ext cx="5120640" cy="438912"/>
          </a:xfrm>
          <a:prstGeom prst="roundRect">
            <a:avLst>
              <a:gd name="adj" fmla="val 12500"/>
            </a:avLst>
          </a:prstGeom>
          <a:solidFill>
            <a:srgbClr val="2A3358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37960" y="228600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0" y="268833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3F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0" y="2852928"/>
            <a:ext cx="5120640" cy="438912"/>
          </a:xfrm>
          <a:prstGeom prst="roundRect">
            <a:avLst>
              <a:gd name="adj" fmla="val 12500"/>
            </a:avLst>
          </a:prstGeom>
          <a:solidFill>
            <a:srgbClr val="2A3358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37960" y="2852928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LLM (reads context)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0800" y="3255264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3F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00800" y="3419856"/>
            <a:ext cx="5120640" cy="438912"/>
          </a:xfrm>
          <a:prstGeom prst="roundRect">
            <a:avLst>
              <a:gd name="adj" fmla="val 12500"/>
            </a:avLst>
          </a:prstGeom>
          <a:solidFill>
            <a:srgbClr val="4C5FD7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537960" y="3419856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Read tools → Prediction &amp; Decision engine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00800" y="382219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3F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400800" y="3986784"/>
            <a:ext cx="5120640" cy="438912"/>
          </a:xfrm>
          <a:prstGeom prst="roundRect">
            <a:avLst>
              <a:gd name="adj" fmla="val 12500"/>
            </a:avLst>
          </a:prstGeom>
          <a:solidFill>
            <a:srgbClr val="2A3358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537960" y="3986784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Structured numbers returned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00800" y="438912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3F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00800" y="4553712"/>
            <a:ext cx="5120640" cy="438912"/>
          </a:xfrm>
          <a:prstGeom prst="roundRect">
            <a:avLst>
              <a:gd name="adj" fmla="val 12500"/>
            </a:avLst>
          </a:prstGeom>
          <a:solidFill>
            <a:srgbClr val="2A3358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537960" y="4553712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LLM renders the explanation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66928" y="598932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Guardrails: never invents numbers or market data · labels Observed / Predicted / Recommended · requires confirmation before any price or inventory action.</a:t>
            </a:r>
            <a:endParaRPr lang="en-US" sz="1150" dirty="0">
              <a:latin typeface="Cambria" panose="020405030504060302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SourceIQ</a:t>
            </a: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Inventory Intelligence</a:t>
            </a:r>
            <a:endParaRPr lang="en-US" sz="9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Ship a transparent baseline; deepen with data</a:t>
            </a:r>
            <a:endParaRPr lang="en-US" sz="3000" dirty="0">
              <a:latin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41248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MVP  ·  PROVE THE DECISION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41248" y="23317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>
              <a:latin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69848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Rules + market benchmarks (Phase 0)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41248" y="289864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>
              <a:latin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9848" y="28986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Deterministic prediction &amp; decision engine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41248" y="3465576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>
              <a:latin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69848" y="346557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Mock AI explanation layer (swappable)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41248" y="4032504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>
              <a:latin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69848" y="40325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Three mock datasets (market · dealer · outcomes)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41248" y="459943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>
              <a:latin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69848" y="45994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Seven-screen closed loop, one worked dealer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309360" y="169164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83680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AD3F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REAL PRODUCT  ·  DEEPEN &amp; SCALE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83680" y="23317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DE8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>
              <a:latin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81228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Supervised ML: survival, price, cost (Phase 1)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0" y="289864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DE8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>
              <a:latin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812280" y="28986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Dealer-specific calibration (Phase 2)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83680" y="3465576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DE8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>
              <a:latin typeface="Cambria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812280" y="346557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Computer-vision recon; price elasticity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83680" y="4032504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DE8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>
              <a:latin typeface="Cambria" panose="020405030504060302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12280" y="40325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Portfolio optimisation across the buy list (Phase 3)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583680" y="459943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DE8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>
              <a:latin typeface="Cambria" panose="0204050305040603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12280" y="45994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Live auction integration + real LLM provider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66928" y="58978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Launch a transparent baseline with known limits — then replace each component with a learned model as outcome data accumulates.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SourceIQ</a:t>
            </a: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Inventory Intelligence</a:t>
            </a:r>
            <a:endParaRPr lang="en-US" sz="9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GO-TO-MARKET · LAUNCH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Start where trust already exists</a:t>
            </a:r>
            <a:endParaRPr lang="en-US" sz="3000" dirty="0">
              <a:latin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41248" y="201168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4C5FD7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4124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41248" y="25786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Land with design partners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41248" y="3054096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1–3 dealers from </a:t>
            </a:r>
            <a:r>
              <a:rPr lang="en-US" sz="1250" dirty="0" err="1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SourceIQ’s</a:t>
            </a:r>
            <a:r>
              <a:rPr lang="en-US" sz="12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existing imaging &amp; merchandising base — the relationship and the data access are already in place.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34256" y="173736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08576" y="201168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4C5FD7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0857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08576" y="25786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Run in shadow mode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08576" y="3054096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For 60–90 days, recommend alongside their current sourcing. Capture predicted-vs-actual on every unit; change nothing yet.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01584" y="173736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375904" y="201168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4C5FD7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75904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75904" y="25786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Prove the number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75904" y="3054096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 holdout shows causal days-on-lot lift and margin gain. Expand only after hit-rate and adoption clear a bar.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66928" y="4572000"/>
            <a:ext cx="11057839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86968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AD3F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WHY </a:t>
            </a:r>
            <a:r>
              <a:rPr lang="en-US" sz="1050" b="1" kern="0" spc="150" dirty="0" err="1">
                <a:solidFill>
                  <a:srgbClr val="CAD3F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SourceIQ</a:t>
            </a:r>
            <a:r>
              <a:rPr lang="en-US" sz="1050" b="1" kern="0" spc="150" dirty="0">
                <a:solidFill>
                  <a:srgbClr val="CAD3F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WINS THE FIRST DEALERS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86968" y="5074920"/>
            <a:ext cx="104177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Existing imaging relationships are warm distribution, no cold sell. And years of vehicle imagery plus dealer data are a head start no pure-software competitor has on day one.</a:t>
            </a:r>
            <a:endParaRPr lang="en-US" sz="1300" dirty="0">
              <a:latin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SourceIQ</a:t>
            </a: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Inventory Intelligence</a:t>
            </a:r>
            <a:endParaRPr lang="en-US" sz="9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GO-TO-MARKET · SCALE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Every outcome makes the next dealer’s recommendation better</a:t>
            </a:r>
            <a:endParaRPr lang="en-US" sz="3000" dirty="0">
              <a:latin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993392" cy="777240"/>
          </a:xfrm>
          <a:prstGeom prst="roundRect">
            <a:avLst>
              <a:gd name="adj" fmla="val 9412"/>
            </a:avLst>
          </a:prstGeom>
          <a:solidFill>
            <a:srgbClr val="ECEEFB"/>
          </a:solidFill>
          <a:ln w="12700">
            <a:solidFill>
              <a:srgbClr val="D6DBFA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More dealers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532888" y="1783080"/>
            <a:ext cx="237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88920" y="1783080"/>
            <a:ext cx="1993392" cy="777240"/>
          </a:xfrm>
          <a:prstGeom prst="roundRect">
            <a:avLst>
              <a:gd name="adj" fmla="val 9412"/>
            </a:avLst>
          </a:prstGeom>
          <a:solidFill>
            <a:srgbClr val="ECEEFB"/>
          </a:solidFill>
          <a:ln w="12700">
            <a:solidFill>
              <a:srgbClr val="D6DBFA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88920" y="178308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More outcomes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54880" y="1783080"/>
            <a:ext cx="237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10912" y="1783080"/>
            <a:ext cx="1993392" cy="777240"/>
          </a:xfrm>
          <a:prstGeom prst="roundRect">
            <a:avLst>
              <a:gd name="adj" fmla="val 9412"/>
            </a:avLst>
          </a:prstGeom>
          <a:solidFill>
            <a:srgbClr val="ECEEFB"/>
          </a:solidFill>
          <a:ln w="12700">
            <a:solidFill>
              <a:srgbClr val="D6DBFA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10912" y="178308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Sharper models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976872" y="1783080"/>
            <a:ext cx="237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232904" y="1783080"/>
            <a:ext cx="1993392" cy="777240"/>
          </a:xfrm>
          <a:prstGeom prst="roundRect">
            <a:avLst>
              <a:gd name="adj" fmla="val 9412"/>
            </a:avLst>
          </a:prstGeom>
          <a:solidFill>
            <a:srgbClr val="ECEEFB"/>
          </a:solidFill>
          <a:ln w="12700">
            <a:solidFill>
              <a:srgbClr val="D6DBFA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232904" y="178308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Better recommendations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198864" y="1783080"/>
            <a:ext cx="237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454896" y="1783080"/>
            <a:ext cx="1993392" cy="777240"/>
          </a:xfrm>
          <a:prstGeom prst="roundRect">
            <a:avLst>
              <a:gd name="adj" fmla="val 9412"/>
            </a:avLst>
          </a:prstGeom>
          <a:solidFill>
            <a:srgbClr val="ECEEFB"/>
          </a:solidFill>
          <a:ln w="12700">
            <a:solidFill>
              <a:srgbClr val="D6DBFA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454896" y="178308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More adoption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66928" y="27432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Each turn compounds — more data sharpens the dealer-specific models and widens the moat.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66928" y="3291840"/>
            <a:ext cx="3520440" cy="2423160"/>
          </a:xfrm>
          <a:prstGeom prst="roundRect">
            <a:avLst>
              <a:gd name="adj" fmla="val 3019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41248" y="353872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Expansion motion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41248" y="39776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Land with a design partner → expand across their rooftops → roll through </a:t>
            </a:r>
            <a:r>
              <a:rPr lang="en-US" sz="1250" dirty="0" err="1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SourceIQ’s</a:t>
            </a:r>
            <a:r>
              <a:rPr lang="en-US" sz="12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install base → broaden to new dealers. Land-and-expand, not cold GTM.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334256" y="3291840"/>
            <a:ext cx="3520440" cy="2423160"/>
          </a:xfrm>
          <a:prstGeom prst="roundRect">
            <a:avLst>
              <a:gd name="adj" fmla="val 3019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08576" y="353872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Widening moat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08576" y="39776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Dealer-specific calibration and outcome history compound with every sale, hard for a market-only competitor to replicate, and it deepens over time.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101584" y="3291840"/>
            <a:ext cx="3520440" cy="2423160"/>
          </a:xfrm>
          <a:prstGeom prst="roundRect">
            <a:avLst>
              <a:gd name="adj" fmla="val 3019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375904" y="353872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Monetisation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75904" y="39776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Per-seat SaaS + per-VIN scored, with a value-share tier tied to realised days-on-lot and margin lift. Natural cross-sell with </a:t>
            </a:r>
            <a:r>
              <a:rPr lang="en-US" sz="1250" dirty="0" err="1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SourceIQ</a:t>
            </a:r>
            <a:r>
              <a:rPr lang="en-US" sz="12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merchandising &amp; imaging.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SourceIQ</a:t>
            </a: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Inventory Intelligence</a:t>
            </a:r>
            <a:endParaRPr lang="en-US" sz="9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MEASUREMENT &amp; ROLLOUT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Prove causal impact, not just model fit</a:t>
            </a:r>
            <a:endParaRPr lang="en-US" sz="3000" dirty="0">
              <a:latin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017520" cy="1737360"/>
          </a:xfrm>
          <a:prstGeom prst="roundRect">
            <a:avLst>
              <a:gd name="adj" fmla="val 4211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19659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72 → &lt;45</a:t>
            </a:r>
            <a:endParaRPr lang="en-US" sz="3200" dirty="0">
              <a:latin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2743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average days-on-lot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813048" y="1691640"/>
            <a:ext cx="3017520" cy="1737360"/>
          </a:xfrm>
          <a:prstGeom prst="roundRect">
            <a:avLst>
              <a:gd name="adj" fmla="val 4211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813048" y="19659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+10%</a:t>
            </a:r>
            <a:endParaRPr lang="en-US" sz="3200" dirty="0">
              <a:latin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813048" y="2743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gross profit per unit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059168" y="1691640"/>
            <a:ext cx="3017520" cy="1737360"/>
          </a:xfrm>
          <a:prstGeom prst="roundRect">
            <a:avLst>
              <a:gd name="adj" fmla="val 4211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059168" y="19659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3200" dirty="0">
              <a:latin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059168" y="2743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capital velocity (turns/yr)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012680" y="169164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012680" y="19659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3200" dirty="0">
              <a:latin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104120" y="27432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CAD3F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recommendation adoption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66928" y="3703320"/>
            <a:ext cx="11057839" cy="1965960"/>
          </a:xfrm>
          <a:prstGeom prst="roundRect">
            <a:avLst>
              <a:gd name="adj" fmla="val 3721"/>
            </a:avLst>
          </a:prstGeom>
          <a:solidFill>
            <a:srgbClr val="F0F2FB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86968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HOW WE MEASURE SUCCESS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86968" y="4251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Holdout / control</a:t>
            </a:r>
            <a:endParaRPr lang="en-US" sz="1300" dirty="0">
              <a:latin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86968" y="45720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Measure days-on-lot lift causally against a control group, not just correlation.</a:t>
            </a:r>
            <a:endParaRPr lang="en-US" sz="1150" dirty="0">
              <a:latin typeface="Cambria" panose="020405030504060302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681728" y="4251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Calibration tracking</a:t>
            </a:r>
            <a:endParaRPr lang="en-US" sz="1300" dirty="0">
              <a:latin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681728" y="45720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Predicted vs actual on every purchased unit; recalibrate dealer-specific priors over time.</a:t>
            </a:r>
            <a:endParaRPr lang="en-US" sz="1150" dirty="0">
              <a:latin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476488" y="4251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Outcome-based eval</a:t>
            </a:r>
            <a:endParaRPr lang="en-US" sz="1300" dirty="0">
              <a:latin typeface="Cambria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476488" y="4572000"/>
            <a:ext cx="294312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Score the product on realized contribution, money made, not model accuracy.</a:t>
            </a:r>
            <a:endParaRPr lang="en-US" sz="1150" dirty="0">
              <a:latin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SourceIQ</a:t>
            </a: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Inventory Intelligence</a:t>
            </a:r>
            <a:endParaRPr lang="en-US" sz="9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hard problems, named</a:t>
            </a:r>
            <a:endParaRPr lang="en-US" sz="3000" dirty="0">
              <a:latin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46040" cy="1783080"/>
          </a:xfrm>
          <a:prstGeom prst="roundRect">
            <a:avLst>
              <a:gd name="adj" fmla="val 4103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41248" y="1947672"/>
            <a:ext cx="479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Selection bias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41248" y="2350008"/>
            <a:ext cx="479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We only see outcomes for cars dealers bought.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41248" y="2807208"/>
            <a:ext cx="479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Mitigation:  </a:t>
            </a:r>
            <a:r>
              <a:rPr lang="en-US" sz="1200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Anchor on external market + comparable outcomes, not only historical purchases.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78728" y="1691640"/>
            <a:ext cx="5346040" cy="1783080"/>
          </a:xfrm>
          <a:prstGeom prst="roundRect">
            <a:avLst>
              <a:gd name="adj" fmla="val 4103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53048" y="1947672"/>
            <a:ext cx="479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Cold-start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53048" y="2350008"/>
            <a:ext cx="479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No dealer history on day one.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53048" y="2807208"/>
            <a:ext cx="479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Mitigation:  </a:t>
            </a:r>
            <a:r>
              <a:rPr lang="en-US" sz="1200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Start with transparent rules &amp; benchmarks; add supervised models as data lands.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6928" y="3794760"/>
            <a:ext cx="5346040" cy="1783080"/>
          </a:xfrm>
          <a:prstGeom prst="roundRect">
            <a:avLst>
              <a:gd name="adj" fmla="val 4103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41248" y="4050792"/>
            <a:ext cx="479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Causality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41248" y="4453128"/>
            <a:ext cx="479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Did it sell fast because it was desirable or cheap?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1248" y="4910328"/>
            <a:ext cx="479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Mitigation:  </a:t>
            </a:r>
            <a:r>
              <a:rPr lang="en-US" sz="1200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Price is a feature; model the price→demand curve explicitly.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78728" y="3794760"/>
            <a:ext cx="5346040" cy="1783080"/>
          </a:xfrm>
          <a:prstGeom prst="roundRect">
            <a:avLst>
              <a:gd name="adj" fmla="val 4103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53048" y="4050792"/>
            <a:ext cx="479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Trust &amp; adoption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53048" y="4453128"/>
            <a:ext cx="479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59617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Dealers are gut-driven and skeptical.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53048" y="4910328"/>
            <a:ext cx="479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Mitigation:  </a:t>
            </a:r>
            <a:r>
              <a:rPr lang="en-US" sz="1200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Explainability + shadow-mode rollout that proves the hit-rate.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SourceIQ</a:t>
            </a: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Inventory Intelligence</a:t>
            </a:r>
            <a:endParaRPr lang="en-US" sz="9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 working end-to-end decision loop</a:t>
            </a:r>
            <a:endParaRPr lang="en-US" sz="3000" dirty="0">
              <a:latin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1344168" cy="9144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2011680"/>
            <a:ext cx="1344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892808" y="201168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167128" y="2011680"/>
            <a:ext cx="1344168" cy="9144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167128" y="2011680"/>
            <a:ext cx="1344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493008" y="201168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767328" y="2011680"/>
            <a:ext cx="1344168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767328" y="2011680"/>
            <a:ext cx="1344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93208" y="201168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367528" y="2011680"/>
            <a:ext cx="1344168" cy="9144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367528" y="2011680"/>
            <a:ext cx="1344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Pursue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93408" y="201168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967728" y="2011680"/>
            <a:ext cx="1344168" cy="9144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967728" y="2011680"/>
            <a:ext cx="1344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93608" y="201168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567928" y="2011680"/>
            <a:ext cx="1344168" cy="9144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567928" y="2011680"/>
            <a:ext cx="1344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Intervene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893808" y="201168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168128" y="2011680"/>
            <a:ext cx="1344168" cy="9144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168128" y="2011680"/>
            <a:ext cx="1344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66928" y="3383280"/>
            <a:ext cx="5669280" cy="2194560"/>
          </a:xfrm>
          <a:prstGeom prst="roundRect">
            <a:avLst>
              <a:gd name="adj" fmla="val 3333"/>
            </a:avLst>
          </a:prstGeom>
          <a:solidFill>
            <a:srgbClr val="F0F2FB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86968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MOVES THAT LAND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86968" y="397764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• Price simulator- Drag the bid, watch STRONG BUY → PASS live</a:t>
            </a:r>
            <a:endParaRPr lang="en-US" sz="1250" dirty="0">
              <a:latin typeface="Cambria" panose="02040503050406030204" pitchFamily="18" charset="0"/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• Strategy levers- Change min contribution or target days and the whole feed re-decides 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• AI diagnosis &amp; intervention- Reprice with the holding-cost trade-off shown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00800" y="338328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6F8FC"/>
          </a:solidFill>
          <a:ln w="12700">
            <a:solidFill>
              <a:srgbClr val="E4E8F2"/>
            </a:solidFill>
            <a:prstDash val="solid"/>
          </a:ln>
          <a:effectLst>
            <a:outerShdw blurRad="114300" dist="25400" dir="5400000" algn="bl" rotWithShape="0">
              <a:srgbClr val="A9B0C4">
                <a:alpha val="22000"/>
              </a:srgbClr>
            </a:outerShdw>
          </a:effectLst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67512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C5FD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DELIVERED ARTIFACTS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675120" y="39776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• Interactive prototype (9 screens, stateful)</a:t>
            </a:r>
            <a:endParaRPr lang="en-US" sz="1250" dirty="0">
              <a:latin typeface="Cambria" panose="02040503050406030204" pitchFamily="18" charset="0"/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• Excel decision dataset (20 vehicles, live formulas)</a:t>
            </a:r>
            <a:endParaRPr lang="en-US" sz="1250" dirty="0">
              <a:latin typeface="Cambria" panose="02040503050406030204" pitchFamily="18" charset="0"/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• LLM context &amp; tooling specification</a:t>
            </a:r>
            <a:endParaRPr lang="en-US" sz="1250" dirty="0">
              <a:latin typeface="Cambria" panose="02040503050406030204" pitchFamily="18" charset="0"/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03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• User-flow map</a:t>
            </a:r>
            <a:endParaRPr lang="en-US" sz="1250" dirty="0">
              <a:latin typeface="Cambria" panose="020405030504060302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SourceIQ</a:t>
            </a: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Inventory Intelligence</a:t>
            </a:r>
            <a:endParaRPr lang="en-US" sz="9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AD3F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24688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4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SourceIQ</a:t>
            </a:r>
            <a:r>
              <a:rPr lang="en-US" sz="3400" b="1" dirty="0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 predicts the opportunity;</a:t>
            </a:r>
            <a:endParaRPr lang="en-US" sz="3400" dirty="0">
              <a:latin typeface="Cambria" panose="02040503050406030204" pitchFamily="18" charset="0"/>
            </a:endParaRPr>
          </a:p>
          <a:p>
            <a:pPr marL="0" indent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the decision layer makes it right for this dealer.</a:t>
            </a:r>
            <a:endParaRPr lang="en-US" sz="3400" dirty="0">
              <a:latin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4480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3F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Right vehicle  +  right market  +  right price  =  faster, more profitable inventory.</a:t>
            </a:r>
            <a:endParaRPr lang="en-US" sz="1700" dirty="0">
              <a:latin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SourceIQ</a:t>
            </a:r>
            <a:r>
              <a:rPr lang="en-US" sz="900" dirty="0">
                <a:solidFill>
                  <a:srgbClr val="8A93A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Inventory Intelligence</a:t>
            </a:r>
            <a:endParaRPr lang="en-US" sz="9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306FE-A11D-13C9-FDD8-5B8A38AE1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D7541A7-097D-CD51-3EA9-CC1EF267F920}"/>
              </a:ext>
            </a:extLst>
          </p:cNvPr>
          <p:cNvSpPr/>
          <p:nvPr/>
        </p:nvSpPr>
        <p:spPr>
          <a:xfrm>
            <a:off x="0" y="2857500"/>
            <a:ext cx="12192000" cy="14962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Cambria" panose="020405030504060302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28835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1002</TotalTime>
  <Words>2820</Words>
  <Application>Microsoft Office PowerPoint</Application>
  <PresentationFormat>Widescreen</PresentationFormat>
  <Paragraphs>420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Ujjwal Padha</cp:lastModifiedBy>
  <cp:revision>20</cp:revision>
  <dcterms:created xsi:type="dcterms:W3CDTF">2026-07-26T13:02:11Z</dcterms:created>
  <dcterms:modified xsi:type="dcterms:W3CDTF">2026-09-03T14:57:01Z</dcterms:modified>
</cp:coreProperties>
</file>